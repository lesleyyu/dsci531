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Old Standard TT" pitchFamily="2" charset="77"/>
      <p:regular r:id="rId10"/>
      <p:bold r:id="rId11"/>
      <p: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9" d="100"/>
          <a:sy n="159" d="100"/>
        </p:scale>
        <p:origin x="1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0e411491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0e411491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90357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90357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0e411491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0e411491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0e411491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0e4114912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6f9035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6f9035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Fairness in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ICU Mortality Prediction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Yun-Jing Chang, Liujia Yu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Features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94,444 ICU stays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115 features</a:t>
            </a: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2"/>
          </p:nvPr>
        </p:nvSpPr>
        <p:spPr>
          <a:xfrm>
            <a:off x="5028725" y="63502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Demographics</a:t>
            </a:r>
            <a:endParaRPr/>
          </a:p>
          <a:p>
            <a:pPr marL="914400" lvl="1" indent="-3175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Gender</a:t>
            </a:r>
            <a:endParaRPr/>
          </a:p>
          <a:p>
            <a:pPr marL="914400" lvl="1" indent="-3175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 brackets (18–29, 30–49, etc.)</a:t>
            </a:r>
            <a:endParaRPr/>
          </a:p>
          <a:p>
            <a:pPr marL="914400" lvl="1" indent="-3175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race categories (WHITE, BLACK, ASIAN, etc.)</a:t>
            </a:r>
            <a:endParaRPr/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Clinical Measurements</a:t>
            </a:r>
            <a:endParaRPr/>
          </a:p>
          <a:p>
            <a:pPr marL="914400" lvl="1" indent="-3175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vital‐sign summaries (min/max/mean)</a:t>
            </a:r>
            <a:endParaRPr/>
          </a:p>
          <a:p>
            <a:pPr marL="914400" lvl="1" indent="-3175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lab test counts and maxima</a:t>
            </a:r>
            <a:endParaRPr/>
          </a:p>
          <a:p>
            <a:pPr marL="457200" lvl="0" indent="-3429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Outcome: </a:t>
            </a:r>
            <a:endParaRPr/>
          </a:p>
          <a:p>
            <a:pPr marL="914400" lvl="1" indent="-31750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icu-mortality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Modeling &amp; Threshold Selection</a:t>
            </a:r>
            <a:endParaRPr/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Fairness Diagnosis</a:t>
            </a:r>
            <a:endParaRPr/>
          </a:p>
          <a:p>
            <a:pPr marL="457200" lvl="0" indent="-342900" algn="l" rtl="0">
              <a:spcBef>
                <a:spcPts val="800"/>
              </a:spcBef>
              <a:spcAft>
                <a:spcPts val="800"/>
              </a:spcAft>
              <a:buSzPts val="1800"/>
              <a:buChar char="●"/>
            </a:pPr>
            <a:r>
              <a:rPr lang="en"/>
              <a:t>Bias Mitigation Strategies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&amp; Threshold Selection</a:t>
            </a: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43263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Baseline Model (no sensitive features)</a:t>
            </a:r>
            <a:endParaRPr sz="1600"/>
          </a:p>
          <a:p>
            <a:pPr marL="91440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AUC: 0.912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Full Model (with gender, age, and race features)</a:t>
            </a:r>
            <a:endParaRPr sz="1600"/>
          </a:p>
          <a:p>
            <a:pPr marL="91440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AUC: 0.920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Baseline → 0.325 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600"/>
              <a:t>(Precision 0.72, Recall 0.59, F₁ 0.65)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Full  → 0.356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600"/>
              <a:t>(Precision 0.74, Recall 0.58, F₁ 0.65)</a:t>
            </a:r>
            <a:endParaRPr sz="1600"/>
          </a:p>
        </p:txBody>
      </p:sp>
      <p:pic>
        <p:nvPicPr>
          <p:cNvPr id="81" name="Google Shape;81;p16" title="01_PR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4075" y="1245075"/>
            <a:ext cx="4106076" cy="32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Fairness Diagnosis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089900"/>
            <a:ext cx="47577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Equal Opportunity (TPR/Recall)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Statistical Parity (Positive Prediction Rate)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Equalized Odds (TPR &amp; FPR)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600"/>
              <a:buChar char="●"/>
            </a:pPr>
            <a:r>
              <a:rPr lang="en" sz="1600"/>
              <a:t>Calibration (Reliability of predicted probabilities)</a:t>
            </a:r>
            <a:endParaRPr sz="1600"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475" y="140100"/>
            <a:ext cx="3576475" cy="238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3300" y="2653300"/>
            <a:ext cx="3629026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8475" y="2653308"/>
            <a:ext cx="3576475" cy="2384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Mitigation Strategies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2"/>
          </p:nvPr>
        </p:nvSpPr>
        <p:spPr>
          <a:xfrm>
            <a:off x="4823950" y="724200"/>
            <a:ext cx="41184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SMOTE + Reweighting</a:t>
            </a: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/>
              <a:t>🔺 recall for the minority class (79%)</a:t>
            </a:r>
            <a:endParaRPr sz="130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/>
              <a:t>🔻 precision (31%) and AUC to 0.898</a:t>
            </a:r>
            <a:endParaRPr sz="1300"/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SMOTE + Regularization</a:t>
            </a: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/>
              <a:t>⛳️ similar recall (80%)</a:t>
            </a:r>
            <a:endParaRPr sz="130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/>
              <a:t>⛳️ slightly better precision (33%), AUC 0.876</a:t>
            </a:r>
            <a:endParaRPr/>
          </a:p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SMOTE + Adversarial Debiasing</a:t>
            </a:r>
            <a:endParaRPr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/>
              <a:t>🔺 highest recall (88%)</a:t>
            </a:r>
            <a:endParaRPr sz="1300"/>
          </a:p>
          <a:p>
            <a:pPr marL="45720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300"/>
              <a:t>⛳️ moderate precision (26%) and AUC 0.916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82700"/>
            <a:ext cx="3894700" cy="276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4700" y="2382700"/>
            <a:ext cx="4382750" cy="276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00" y="0"/>
            <a:ext cx="908379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5434350" y="371707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BF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Next step…</a:t>
            </a:r>
            <a:endParaRPr>
              <a:solidFill>
                <a:srgbClr val="FFFBF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BF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BF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XGBoost and MLP</a:t>
            </a:r>
            <a:endParaRPr>
              <a:solidFill>
                <a:srgbClr val="FFFBF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BF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600" y="0"/>
            <a:ext cx="7836399" cy="23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Macintosh PowerPoint</Application>
  <PresentationFormat>On-screen Show (16:9)</PresentationFormat>
  <Paragraphs>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Old Standard TT</vt:lpstr>
      <vt:lpstr>Paperback</vt:lpstr>
      <vt:lpstr>Fairness in  ICU Mortality Prediction</vt:lpstr>
      <vt:lpstr>Data &amp; Features</vt:lpstr>
      <vt:lpstr>Methods</vt:lpstr>
      <vt:lpstr>Modeling &amp; Threshold Selection</vt:lpstr>
      <vt:lpstr>Fairness Diagnosis</vt:lpstr>
      <vt:lpstr>Bias Mitigation Strategies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Liujia Yu</cp:lastModifiedBy>
  <cp:revision>1</cp:revision>
  <dcterms:modified xsi:type="dcterms:W3CDTF">2025-04-28T20:01:27Z</dcterms:modified>
</cp:coreProperties>
</file>